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5" r:id="rId5"/>
    <p:sldId id="278" r:id="rId6"/>
    <p:sldId id="281" r:id="rId7"/>
    <p:sldId id="262" r:id="rId8"/>
    <p:sldId id="290" r:id="rId9"/>
    <p:sldId id="291" r:id="rId10"/>
    <p:sldId id="292" r:id="rId11"/>
    <p:sldId id="264" r:id="rId12"/>
    <p:sldId id="286" r:id="rId13"/>
    <p:sldId id="287" r:id="rId14"/>
    <p:sldId id="280" r:id="rId15"/>
    <p:sldId id="288" r:id="rId16"/>
    <p:sldId id="293" r:id="rId17"/>
    <p:sldId id="294" r:id="rId18"/>
    <p:sldId id="295" r:id="rId19"/>
    <p:sldId id="289" r:id="rId20"/>
    <p:sldId id="296"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ankalp-Dev06/Interview-Trainer-AI"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interview-trainer-ai-ysbnd46yiusuyceq4uaxvv.streamlit.app/"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489834727"/>
              </p:ext>
            </p:extLst>
          </p:nvPr>
        </p:nvGraphicFramePr>
        <p:xfrm>
          <a:off x="1299257" y="2600315"/>
          <a:ext cx="9909517" cy="2699272"/>
        </p:xfrm>
        <a:graphic>
          <a:graphicData uri="http://schemas.openxmlformats.org/drawingml/2006/table">
            <a:tbl>
              <a:tblPr>
                <a:noFill/>
                <a:tableStyleId>{0AAD8F4D-43EB-41E5-8A38-28AB6DFB1B60}</a:tableStyleId>
              </a:tblPr>
              <a:tblGrid>
                <a:gridCol w="1986851">
                  <a:extLst>
                    <a:ext uri="{9D8B030D-6E8A-4147-A177-3AD203B41FA5}">
                      <a16:colId xmlns:a16="http://schemas.microsoft.com/office/drawing/2014/main" val="20000"/>
                    </a:ext>
                  </a:extLst>
                </a:gridCol>
                <a:gridCol w="2170892">
                  <a:extLst>
                    <a:ext uri="{9D8B030D-6E8A-4147-A177-3AD203B41FA5}">
                      <a16:colId xmlns:a16="http://schemas.microsoft.com/office/drawing/2014/main" val="20002"/>
                    </a:ext>
                  </a:extLst>
                </a:gridCol>
                <a:gridCol w="3743268">
                  <a:extLst>
                    <a:ext uri="{9D8B030D-6E8A-4147-A177-3AD203B41FA5}">
                      <a16:colId xmlns:a16="http://schemas.microsoft.com/office/drawing/2014/main" val="20003"/>
                    </a:ext>
                  </a:extLst>
                </a:gridCol>
                <a:gridCol w="2008506">
                  <a:extLst>
                    <a:ext uri="{9D8B030D-6E8A-4147-A177-3AD203B41FA5}">
                      <a16:colId xmlns:a16="http://schemas.microsoft.com/office/drawing/2014/main" val="20004"/>
                    </a:ext>
                  </a:extLst>
                </a:gridCol>
              </a:tblGrid>
              <a:tr h="1103459">
                <a:tc>
                  <a:txBody>
                    <a:bodyPr/>
                    <a:lstStyle/>
                    <a:p>
                      <a:pPr marL="0" marR="0" lvl="0" indent="0" algn="ctr" rtl="0">
                        <a:spcBef>
                          <a:spcPts val="0"/>
                        </a:spcBef>
                        <a:spcAft>
                          <a:spcPts val="0"/>
                        </a:spcAft>
                        <a:buNone/>
                      </a:pPr>
                      <a:r>
                        <a:rPr lang="en-US" sz="2000" u="none" strike="noStrike" cap="none" dirty="0"/>
                        <a:t>Student Name</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000" u="none" strike="noStrike" cap="none" dirty="0"/>
                        <a:t>Recent Passport Photo</a:t>
                      </a:r>
                      <a:endParaRPr sz="20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Arial"/>
                          <a:ea typeface="Calibri"/>
                          <a:cs typeface="Arial"/>
                          <a:sym typeface="Calibri"/>
                        </a:rPr>
                        <a:t>Email ID </a:t>
                      </a:r>
                      <a:endParaRPr sz="20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Calibri"/>
                          <a:cs typeface="Arial"/>
                          <a:sym typeface="Calibri"/>
                        </a:rPr>
                        <a:t>Mobile number</a:t>
                      </a:r>
                      <a:endParaRPr sz="20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Calibri"/>
                          <a:cs typeface="Arial"/>
                          <a:sym typeface="Calibri"/>
                        </a:rPr>
                        <a:t>[WhatsApp] </a:t>
                      </a:r>
                      <a:endParaRPr sz="20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595813">
                <a:tc>
                  <a:txBody>
                    <a:bodyPr/>
                    <a:lstStyle/>
                    <a:p>
                      <a:pPr marL="0" marR="0" lvl="0" indent="0" algn="ctr" rtl="0">
                        <a:lnSpc>
                          <a:spcPct val="300000"/>
                        </a:lnSpc>
                        <a:spcBef>
                          <a:spcPts val="0"/>
                        </a:spcBef>
                        <a:spcAft>
                          <a:spcPts val="0"/>
                        </a:spcAft>
                        <a:buNone/>
                      </a:pPr>
                      <a:r>
                        <a:rPr lang="en-IN" sz="2000" dirty="0"/>
                        <a:t>Sankalp Tiwari</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lnSpc>
                          <a:spcPct val="300000"/>
                        </a:lnSpc>
                        <a:spcBef>
                          <a:spcPts val="0"/>
                        </a:spcBef>
                        <a:spcAft>
                          <a:spcPts val="0"/>
                        </a:spcAft>
                        <a:buNone/>
                      </a:pPr>
                      <a:r>
                        <a:rPr lang="en-IN" sz="2000" dirty="0"/>
                        <a:t>sankalptiwari1706@gmailicom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300000"/>
                        </a:lnSpc>
                        <a:spcBef>
                          <a:spcPts val="0"/>
                        </a:spcBef>
                        <a:spcAft>
                          <a:spcPts val="0"/>
                        </a:spcAft>
                        <a:buNone/>
                      </a:pPr>
                      <a:r>
                        <a:rPr lang="en-IN" sz="2000" dirty="0"/>
                        <a:t>9968201172</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Educational Technology</a:t>
            </a:r>
            <a:endParaRPr lang="en-IN" sz="28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Interview Trainer Agent</a:t>
            </a:r>
            <a:endParaRPr lang="en-IN" sz="2800" b="1" dirty="0">
              <a:highlight>
                <a:srgbClr val="FFFF00"/>
              </a:highlight>
            </a:endParaRPr>
          </a:p>
        </p:txBody>
      </p:sp>
      <p:pic>
        <p:nvPicPr>
          <p:cNvPr id="5" name="Picture 4">
            <a:extLst>
              <a:ext uri="{FF2B5EF4-FFF2-40B4-BE49-F238E27FC236}">
                <a16:creationId xmlns:a16="http://schemas.microsoft.com/office/drawing/2014/main" id="{3C627452-5500-9522-ECAD-06446612BDAE}"/>
              </a:ext>
            </a:extLst>
          </p:cNvPr>
          <p:cNvPicPr>
            <a:picLocks noChangeAspect="1"/>
          </p:cNvPicPr>
          <p:nvPr/>
        </p:nvPicPr>
        <p:blipFill>
          <a:blip r:embed="rId3"/>
          <a:stretch>
            <a:fillRect/>
          </a:stretch>
        </p:blipFill>
        <p:spPr>
          <a:xfrm>
            <a:off x="3608438" y="3723766"/>
            <a:ext cx="1425678" cy="14032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696104"/>
            <a:ext cx="10607040" cy="3693319"/>
          </a:xfrm>
          <a:prstGeom prst="rect">
            <a:avLst/>
          </a:prstGeom>
          <a:noFill/>
        </p:spPr>
        <p:txBody>
          <a:bodyPr wrap="square" rtlCol="0">
            <a:spAutoFit/>
          </a:bodyPr>
          <a:lstStyle/>
          <a:p>
            <a:pPr algn="just"/>
            <a:r>
              <a:rPr lang="en-US" sz="2000" b="1" i="0" u="none" strike="noStrike" baseline="0" dirty="0">
                <a:solidFill>
                  <a:srgbClr val="000000"/>
                </a:solidFill>
                <a:latin typeface="+mn-lt"/>
              </a:rPr>
              <a:t>The Challenge </a:t>
            </a:r>
            <a:r>
              <a:rPr lang="en-US" sz="2000" b="0" i="0" u="none" strike="noStrike" baseline="0" dirty="0">
                <a:solidFill>
                  <a:srgbClr val="000000"/>
                </a:solidFill>
                <a:latin typeface="+mn-lt"/>
              </a:rPr>
              <a:t>– An Interview Trainer Agent, powered by RAG (Retrieval-Augmented Generation), prepares users for job interviews by generating tailored question sets and preparation strategies based on their profile name, experience level, and job role. It retrieves role-specific interview questions, industry expectations, behavioral scenarios, and HR guidelines from recruitment portals, professional networks, and company interview databases. Users can input their resume or job title, and the agent provides targeted questions, model answers, and improvement tips. It supports both technical and soft skill assessment, ensuring a comprehensive interview prep experience. This AI-driven assistant builds user confidence, sharpens responses, and increases success rates in competitive hiring environments. </a:t>
            </a:r>
          </a:p>
          <a:p>
            <a:pPr algn="just"/>
            <a:r>
              <a:rPr lang="en-US" sz="2000" b="1" i="0" u="none" strike="noStrike" baseline="0" dirty="0">
                <a:solidFill>
                  <a:srgbClr val="000000"/>
                </a:solidFill>
                <a:latin typeface="+mn-lt"/>
              </a:rPr>
              <a:t>Technology </a:t>
            </a:r>
            <a:r>
              <a:rPr lang="en-US" sz="2000" b="0" i="0" u="none" strike="noStrike" baseline="0" dirty="0">
                <a:solidFill>
                  <a:srgbClr val="000000"/>
                </a:solidFill>
                <a:latin typeface="+mn-lt"/>
              </a:rPr>
              <a:t>– Use of IBM Cloud Lite services / IBM Granite is mandatory. </a:t>
            </a:r>
            <a:endParaRPr lang="en-US" sz="2000" dirty="0">
              <a:latin typeface="+mn-lt"/>
            </a:endParaRP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1" y="704088"/>
            <a:ext cx="8056651" cy="954107"/>
          </a:xfrm>
          <a:prstGeom prst="rect">
            <a:avLst/>
          </a:prstGeom>
          <a:noFill/>
        </p:spPr>
        <p:txBody>
          <a:bodyPr wrap="square" rtlCol="0">
            <a:spAutoFit/>
          </a:bodyPr>
          <a:lstStyle/>
          <a:p>
            <a:r>
              <a:rPr lang="en-US" sz="2800" b="1" dirty="0"/>
              <a:t>Problem Statement - Interview Trainer Agent </a:t>
            </a:r>
          </a:p>
          <a:p>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445635" y="912676"/>
            <a:ext cx="10607040" cy="6124754"/>
          </a:xfrm>
          <a:prstGeom prst="rect">
            <a:avLst/>
          </a:prstGeom>
          <a:noFill/>
        </p:spPr>
        <p:txBody>
          <a:bodyPr wrap="square" rtlCol="0">
            <a:spAutoFit/>
          </a:bodyPr>
          <a:lstStyle/>
          <a:p>
            <a:pPr fontAlgn="base"/>
            <a:endParaRPr lang="en-US" b="1" dirty="0"/>
          </a:p>
          <a:p>
            <a:pPr algn="just">
              <a:buNone/>
            </a:pPr>
            <a:r>
              <a:rPr lang="en-IN" dirty="0"/>
              <a:t>Our proposed solution is an </a:t>
            </a:r>
            <a:r>
              <a:rPr lang="en-IN" b="1" dirty="0"/>
              <a:t>AI-powered Interview Trainer Agent</a:t>
            </a:r>
            <a:r>
              <a:rPr lang="en-IN" dirty="0"/>
              <a:t> that provides personalized interview preparation using </a:t>
            </a:r>
            <a:r>
              <a:rPr lang="en-IN" b="1" dirty="0"/>
              <a:t>Retrieval-Augmented Generation (RAG)</a:t>
            </a:r>
            <a:r>
              <a:rPr lang="en-IN" dirty="0"/>
              <a:t> and </a:t>
            </a:r>
            <a:r>
              <a:rPr lang="en-IN" b="1" dirty="0"/>
              <a:t>IBM Granite</a:t>
            </a:r>
            <a:r>
              <a:rPr lang="en-IN" dirty="0"/>
              <a:t> foundation models on IBM Cloud.</a:t>
            </a:r>
          </a:p>
          <a:p>
            <a:pPr algn="just">
              <a:buNone/>
            </a:pPr>
            <a:r>
              <a:rPr lang="en-IN" dirty="0"/>
              <a:t>The system </a:t>
            </a:r>
            <a:r>
              <a:rPr lang="en-IN" dirty="0" err="1"/>
              <a:t>analyzes</a:t>
            </a:r>
            <a:r>
              <a:rPr lang="en-IN" dirty="0"/>
              <a:t> a candidate's </a:t>
            </a:r>
            <a:r>
              <a:rPr lang="en-IN" b="1" dirty="0"/>
              <a:t>resume, experience level, skills, and target job role</a:t>
            </a:r>
            <a:r>
              <a:rPr lang="en-IN" dirty="0"/>
              <a:t> to understand their profile. It retrieves relevant interview content—including technical questions, HR and </a:t>
            </a:r>
            <a:r>
              <a:rPr lang="en-IN" dirty="0" err="1"/>
              <a:t>behavioral</a:t>
            </a:r>
            <a:r>
              <a:rPr lang="en-IN" dirty="0"/>
              <a:t> scenarios, industry expectations, and company-specific interview patterns—from a curated knowledge base containing recruitment portals, interview experiences, and professional resources.</a:t>
            </a:r>
          </a:p>
          <a:p>
            <a:pPr algn="just">
              <a:buNone/>
            </a:pPr>
            <a:r>
              <a:rPr lang="en-IN" dirty="0"/>
              <a:t>Using IBM Granite, the agent generates:</a:t>
            </a:r>
          </a:p>
          <a:p>
            <a:pPr algn="just">
              <a:buFont typeface="Arial" panose="020B0604020202020204" pitchFamily="34" charset="0"/>
              <a:buChar char="•"/>
            </a:pPr>
            <a:r>
              <a:rPr lang="en-IN" dirty="0"/>
              <a:t>Personalized technical and </a:t>
            </a:r>
            <a:r>
              <a:rPr lang="en-IN" dirty="0" err="1"/>
              <a:t>behavioral</a:t>
            </a:r>
            <a:r>
              <a:rPr lang="en-IN" dirty="0"/>
              <a:t> interview questions </a:t>
            </a:r>
          </a:p>
          <a:p>
            <a:pPr algn="just">
              <a:buFont typeface="Arial" panose="020B0604020202020204" pitchFamily="34" charset="0"/>
              <a:buChar char="•"/>
            </a:pPr>
            <a:r>
              <a:rPr lang="en-IN" dirty="0"/>
              <a:t>Context-aware model answers and explanations </a:t>
            </a:r>
          </a:p>
          <a:p>
            <a:pPr algn="just">
              <a:buFont typeface="Arial" panose="020B0604020202020204" pitchFamily="34" charset="0"/>
              <a:buChar char="•"/>
            </a:pPr>
            <a:r>
              <a:rPr lang="en-IN" dirty="0"/>
              <a:t>Resume-specific follow-up questions </a:t>
            </a:r>
          </a:p>
          <a:p>
            <a:pPr algn="just">
              <a:buFont typeface="Arial" panose="020B0604020202020204" pitchFamily="34" charset="0"/>
              <a:buChar char="•"/>
            </a:pPr>
            <a:r>
              <a:rPr lang="en-IN" dirty="0"/>
              <a:t>HR interview guidance and situational scenarios </a:t>
            </a:r>
          </a:p>
          <a:p>
            <a:pPr algn="just">
              <a:buFont typeface="Arial" panose="020B0604020202020204" pitchFamily="34" charset="0"/>
              <a:buChar char="•"/>
            </a:pPr>
            <a:r>
              <a:rPr lang="en-IN" dirty="0"/>
              <a:t>Communication, confidence, and response improvement tips </a:t>
            </a:r>
          </a:p>
          <a:p>
            <a:pPr algn="just">
              <a:buNone/>
            </a:pPr>
            <a:r>
              <a:rPr lang="en-IN" dirty="0"/>
              <a:t>The platform also evaluates user responses, identifies strengths and weaknesses, and provides actionable feedback with personalized learning recommendations. As users continue practicing, the agent adapts the difficulty level and question selection based on their performance, creating a customized interview preparation experience.</a:t>
            </a:r>
          </a:p>
          <a:p>
            <a:pPr algn="just">
              <a:buNone/>
            </a:pPr>
            <a:r>
              <a:rPr lang="en-IN" dirty="0"/>
              <a:t>By combining </a:t>
            </a:r>
            <a:r>
              <a:rPr lang="en-IN" b="1" dirty="0"/>
              <a:t>semantic retrieval (RAG)</a:t>
            </a:r>
            <a:r>
              <a:rPr lang="en-IN" dirty="0"/>
              <a:t> with </a:t>
            </a:r>
            <a:r>
              <a:rPr lang="en-IN" b="1" dirty="0"/>
              <a:t>IBM Granite's generative capabilities</a:t>
            </a:r>
            <a:r>
              <a:rPr lang="en-IN" dirty="0"/>
              <a:t>, the solution delivers accurate, relevant, and up-to-date interview preparation while minimizing AI hallucinations and improving the quality of generated responses.</a:t>
            </a:r>
          </a:p>
          <a:p>
            <a:pPr algn="just">
              <a:buNone/>
            </a:pPr>
            <a:r>
              <a:rPr lang="en-IN" b="1" dirty="0"/>
              <a:t>Key Benefits</a:t>
            </a:r>
          </a:p>
          <a:p>
            <a:pPr algn="just">
              <a:buFont typeface="Arial" panose="020B0604020202020204" pitchFamily="34" charset="0"/>
              <a:buChar char="•"/>
            </a:pPr>
            <a:r>
              <a:rPr lang="en-IN" dirty="0"/>
              <a:t>Personalized interview preparation based on resume and job role </a:t>
            </a:r>
          </a:p>
          <a:p>
            <a:pPr algn="just">
              <a:buFont typeface="Arial" panose="020B0604020202020204" pitchFamily="34" charset="0"/>
              <a:buChar char="•"/>
            </a:pPr>
            <a:r>
              <a:rPr lang="en-IN" dirty="0"/>
              <a:t>Covers technical, HR, </a:t>
            </a:r>
            <a:r>
              <a:rPr lang="en-IN" dirty="0" err="1"/>
              <a:t>behavioral</a:t>
            </a:r>
            <a:r>
              <a:rPr lang="en-IN" dirty="0"/>
              <a:t>, and aptitude interviews </a:t>
            </a:r>
          </a:p>
          <a:p>
            <a:pPr algn="just">
              <a:buFont typeface="Arial" panose="020B0604020202020204" pitchFamily="34" charset="0"/>
              <a:buChar char="•"/>
            </a:pPr>
            <a:r>
              <a:rPr lang="en-IN" dirty="0"/>
              <a:t>AI-generated model answers with detailed feedback </a:t>
            </a:r>
          </a:p>
          <a:p>
            <a:pPr algn="just">
              <a:buFont typeface="Arial" panose="020B0604020202020204" pitchFamily="34" charset="0"/>
              <a:buChar char="•"/>
            </a:pPr>
            <a:r>
              <a:rPr lang="en-IN" dirty="0"/>
              <a:t>Adaptive learning based on user performance </a:t>
            </a:r>
          </a:p>
          <a:p>
            <a:pPr algn="just">
              <a:buFont typeface="Arial" panose="020B0604020202020204" pitchFamily="34" charset="0"/>
              <a:buChar char="•"/>
            </a:pPr>
            <a:r>
              <a:rPr lang="en-IN" dirty="0"/>
              <a:t>Company and role-specific interview practice </a:t>
            </a:r>
          </a:p>
          <a:p>
            <a:pPr algn="just">
              <a:buFont typeface="Arial" panose="020B0604020202020204" pitchFamily="34" charset="0"/>
              <a:buChar char="•"/>
            </a:pPr>
            <a:r>
              <a:rPr lang="en-IN" dirty="0"/>
              <a:t>Powered by IBM Granite and IBM Cloud Lite services </a:t>
            </a:r>
          </a:p>
          <a:p>
            <a:pPr algn="just">
              <a:buFont typeface="Arial" panose="020B0604020202020204" pitchFamily="34" charset="0"/>
              <a:buChar char="•"/>
            </a:pPr>
            <a:r>
              <a:rPr lang="en-IN" dirty="0"/>
              <a:t>Scalable, accurate, and cost-effective interview coaching platform</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605569" y="389456"/>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770537"/>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IBM Granite 4.0 </a:t>
            </a:r>
            <a:r>
              <a:rPr lang="en-US" sz="2000" dirty="0"/>
              <a:t>— Primary LLM that generates prep plans, answer guidance, and scored evaluations via watsonx.ai.</a:t>
            </a:r>
          </a:p>
          <a:p>
            <a:endParaRPr lang="en-US" sz="2000" dirty="0"/>
          </a:p>
          <a:p>
            <a:pPr marL="285750" indent="-285750">
              <a:buFont typeface="Arial" panose="020B0604020202020204" pitchFamily="34" charset="0"/>
              <a:buChar char="•"/>
            </a:pPr>
            <a:r>
              <a:rPr lang="en-US" sz="2000" b="1" dirty="0" err="1">
                <a:solidFill>
                  <a:schemeClr val="tx1"/>
                </a:solidFill>
              </a:rPr>
              <a:t>ibm</a:t>
            </a:r>
            <a:r>
              <a:rPr lang="en-US" sz="2000" b="1" dirty="0">
                <a:solidFill>
                  <a:schemeClr val="tx1"/>
                </a:solidFill>
              </a:rPr>
              <a:t>-</a:t>
            </a:r>
            <a:r>
              <a:rPr lang="en-US" sz="2000" b="1" dirty="0" err="1">
                <a:solidFill>
                  <a:schemeClr val="tx1"/>
                </a:solidFill>
              </a:rPr>
              <a:t>watsonx</a:t>
            </a:r>
            <a:r>
              <a:rPr lang="en-US" sz="2000" b="1" dirty="0">
                <a:solidFill>
                  <a:schemeClr val="tx1"/>
                </a:solidFill>
              </a:rPr>
              <a:t>-ai SDK </a:t>
            </a:r>
            <a:r>
              <a:rPr lang="en-US" sz="2000" dirty="0"/>
              <a:t>— Official Python SDK that wraps the IBM Granite and Slate APIs for inference and embedding calls.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FAISS (</a:t>
            </a:r>
            <a:r>
              <a:rPr lang="en-US" sz="2000" b="1" dirty="0" err="1"/>
              <a:t>faiss-cpu</a:t>
            </a:r>
            <a:r>
              <a:rPr lang="en-US" sz="2000" b="1" dirty="0"/>
              <a:t>) </a:t>
            </a:r>
            <a:r>
              <a:rPr lang="en-US" sz="2000" dirty="0"/>
              <a:t>— Facebook's vector similarity library used to build and query the local document index.</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err="1"/>
              <a:t>Streamlit</a:t>
            </a:r>
            <a:r>
              <a:rPr lang="en-US" sz="2000" dirty="0"/>
              <a:t> — Python web framework that powers the entire chat-first UI including tabs, sidebar, and session state.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Bob</a:t>
            </a:r>
            <a:r>
              <a:rPr lang="en-US" sz="2000" dirty="0"/>
              <a:t> — AI coding assistant embedded in VS Code that reads, explains, and edits the codebase using tools like </a:t>
            </a:r>
            <a:r>
              <a:rPr lang="en-US" sz="2000" dirty="0" err="1"/>
              <a:t>FindSymbol</a:t>
            </a:r>
            <a:r>
              <a:rPr lang="en-US" sz="2000" dirty="0"/>
              <a:t>, grep, and </a:t>
            </a:r>
            <a:r>
              <a:rPr lang="en-US" sz="2000" dirty="0" err="1"/>
              <a:t>read_file</a:t>
            </a:r>
            <a:r>
              <a:rPr lang="en-US" sz="2000" dirty="0"/>
              <a:t>.</a:t>
            </a:r>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488429" y="593213"/>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IBM Bob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389987" y="1311695"/>
            <a:ext cx="10684791" cy="3816429"/>
          </a:xfrm>
          <a:prstGeom prst="rect">
            <a:avLst/>
          </a:prstGeom>
          <a:noFill/>
        </p:spPr>
        <p:txBody>
          <a:bodyPr wrap="square" rtlCol="0">
            <a:spAutoFit/>
          </a:bodyPr>
          <a:lstStyle/>
          <a:p>
            <a:pPr marL="0" marR="0" indent="0" algn="just">
              <a:buNone/>
            </a:pPr>
            <a:r>
              <a:rPr lang="en-IN" sz="1800" b="1" i="0" dirty="0">
                <a:solidFill>
                  <a:schemeClr val="tx1"/>
                </a:solidFill>
                <a:effectLst/>
                <a:latin typeface="+mn-lt"/>
              </a:rPr>
              <a:t>Bob</a:t>
            </a:r>
            <a:r>
              <a:rPr lang="en-IN" sz="1800" b="0" i="0" dirty="0">
                <a:solidFill>
                  <a:schemeClr val="tx1"/>
                </a:solidFill>
                <a:effectLst/>
                <a:latin typeface="+mn-lt"/>
              </a:rPr>
              <a:t> is the AI coding assistant integrated into this VS Code workspace via the </a:t>
            </a:r>
            <a:r>
              <a:rPr lang="en-IN" sz="1800" b="1" i="0" dirty="0">
                <a:solidFill>
                  <a:schemeClr val="tx1"/>
                </a:solidFill>
                <a:effectLst/>
                <a:latin typeface="+mn-lt"/>
              </a:rPr>
              <a:t>Bob extension</a:t>
            </a:r>
            <a:r>
              <a:rPr lang="en-IN" sz="1800" b="0" i="0" dirty="0">
                <a:solidFill>
                  <a:schemeClr val="tx1"/>
                </a:solidFill>
                <a:effectLst/>
                <a:latin typeface="+mn-lt"/>
              </a:rPr>
              <a:t>. It operates within the same repository and:</a:t>
            </a:r>
          </a:p>
          <a:p>
            <a:pPr marL="0" marR="0" indent="0" algn="just">
              <a:buFont typeface="Arial" panose="020B0604020202020204" pitchFamily="34" charset="0"/>
              <a:buChar char="•"/>
            </a:pPr>
            <a:r>
              <a:rPr lang="en-IN" sz="1800" b="0" i="0" dirty="0">
                <a:solidFill>
                  <a:schemeClr val="tx1"/>
                </a:solidFill>
                <a:effectLst/>
                <a:latin typeface="+mn-lt"/>
              </a:rPr>
              <a:t>Stores its own memory in the Git object store under </a:t>
            </a:r>
            <a:r>
              <a:rPr lang="en-IN" sz="1600" b="0" i="0" dirty="0">
                <a:solidFill>
                  <a:schemeClr val="tx1"/>
                </a:solidFill>
                <a:effectLst/>
                <a:latin typeface="+mn-lt"/>
              </a:rPr>
              <a:t>refs/notes/bob</a:t>
            </a:r>
            <a:r>
              <a:rPr lang="en-IN" sz="1800" b="0" i="0" dirty="0">
                <a:solidFill>
                  <a:schemeClr val="tx1"/>
                </a:solidFill>
                <a:effectLst/>
                <a:latin typeface="+mn-lt"/>
              </a:rPr>
              <a:t> (visible in </a:t>
            </a:r>
            <a:r>
              <a:rPr lang="en-IN" sz="1600" b="0" i="0" dirty="0">
                <a:solidFill>
                  <a:schemeClr val="tx1"/>
                </a:solidFill>
                <a:effectLst/>
                <a:latin typeface="+mn-lt"/>
              </a:rPr>
              <a:t>.git/refs/notes/bob</a:t>
            </a:r>
            <a:r>
              <a:rPr lang="en-IN" sz="1800" b="0" i="0" dirty="0">
                <a:solidFill>
                  <a:schemeClr val="tx1"/>
                </a:solidFill>
                <a:effectLst/>
                <a:latin typeface="+mn-lt"/>
              </a:rPr>
              <a:t> and </a:t>
            </a:r>
            <a:r>
              <a:rPr lang="en-IN" sz="1600" b="0" i="0" dirty="0">
                <a:solidFill>
                  <a:schemeClr val="tx1"/>
                </a:solidFill>
                <a:effectLst/>
                <a:latin typeface="+mn-lt"/>
              </a:rPr>
              <a:t>.git/logs/refs/notes/bob</a:t>
            </a:r>
            <a:r>
              <a:rPr lang="en-IN" sz="1800" b="0" i="0" dirty="0">
                <a:solidFill>
                  <a:schemeClr val="tx1"/>
                </a:solidFill>
                <a:effectLst/>
                <a:latin typeface="+mn-lt"/>
              </a:rPr>
              <a:t>)</a:t>
            </a:r>
          </a:p>
          <a:p>
            <a:pPr marL="0" marR="0" indent="0" algn="just">
              <a:buFont typeface="Arial" panose="020B0604020202020204" pitchFamily="34" charset="0"/>
              <a:buChar char="•"/>
            </a:pPr>
            <a:r>
              <a:rPr lang="en-IN" sz="1800" b="0" i="0" dirty="0">
                <a:solidFill>
                  <a:schemeClr val="tx1"/>
                </a:solidFill>
                <a:effectLst/>
                <a:latin typeface="+mn-lt"/>
              </a:rPr>
              <a:t>Runs in </a:t>
            </a:r>
            <a:r>
              <a:rPr lang="en-IN" sz="1800" b="1" i="0" dirty="0">
                <a:solidFill>
                  <a:schemeClr val="tx1"/>
                </a:solidFill>
                <a:effectLst/>
                <a:latin typeface="+mn-lt"/>
              </a:rPr>
              <a:t>Ask</a:t>
            </a:r>
            <a:r>
              <a:rPr lang="en-IN" sz="1800" b="0" i="0" dirty="0">
                <a:solidFill>
                  <a:schemeClr val="tx1"/>
                </a:solidFill>
                <a:effectLst/>
                <a:latin typeface="+mn-lt"/>
              </a:rPr>
              <a:t>, </a:t>
            </a:r>
            <a:r>
              <a:rPr lang="en-IN" sz="1800" b="1" i="0" dirty="0">
                <a:solidFill>
                  <a:schemeClr val="tx1"/>
                </a:solidFill>
                <a:effectLst/>
                <a:latin typeface="+mn-lt"/>
              </a:rPr>
              <a:t>Plan</a:t>
            </a:r>
            <a:r>
              <a:rPr lang="en-IN" sz="1800" b="0" i="0" dirty="0">
                <a:solidFill>
                  <a:schemeClr val="tx1"/>
                </a:solidFill>
                <a:effectLst/>
                <a:latin typeface="+mn-lt"/>
              </a:rPr>
              <a:t>, and </a:t>
            </a:r>
            <a:r>
              <a:rPr lang="en-IN" sz="1800" b="1" i="0" dirty="0">
                <a:solidFill>
                  <a:schemeClr val="tx1"/>
                </a:solidFill>
                <a:effectLst/>
                <a:latin typeface="+mn-lt"/>
              </a:rPr>
              <a:t>Agent</a:t>
            </a:r>
            <a:r>
              <a:rPr lang="en-IN" sz="1800" b="0" i="0" dirty="0">
                <a:solidFill>
                  <a:schemeClr val="tx1"/>
                </a:solidFill>
                <a:effectLst/>
                <a:latin typeface="+mn-lt"/>
              </a:rPr>
              <a:t> modes — each with a different set of tools (read-only exploration vs. full file editing + command execution)</a:t>
            </a:r>
          </a:p>
          <a:p>
            <a:pPr marL="0" marR="0" indent="0" algn="just">
              <a:buFont typeface="Arial" panose="020B0604020202020204" pitchFamily="34" charset="0"/>
              <a:buChar char="•"/>
            </a:pPr>
            <a:r>
              <a:rPr lang="en-IN" sz="1800" b="0" i="0" dirty="0">
                <a:solidFill>
                  <a:schemeClr val="tx1"/>
                </a:solidFill>
                <a:effectLst/>
                <a:latin typeface="+mn-lt"/>
              </a:rPr>
              <a:t>Supports </a:t>
            </a:r>
            <a:r>
              <a:rPr lang="en-IN" sz="1800" b="1" i="0" dirty="0">
                <a:solidFill>
                  <a:schemeClr val="tx1"/>
                </a:solidFill>
                <a:effectLst/>
                <a:latin typeface="+mn-lt"/>
              </a:rPr>
              <a:t>Skills</a:t>
            </a:r>
            <a:r>
              <a:rPr lang="en-IN" sz="1800" b="0" i="0" dirty="0">
                <a:solidFill>
                  <a:schemeClr val="tx1"/>
                </a:solidFill>
                <a:effectLst/>
                <a:latin typeface="+mn-lt"/>
              </a:rPr>
              <a:t> (loaded on-demand instruction sets, like </a:t>
            </a:r>
            <a:r>
              <a:rPr lang="en-IN" sz="1600" b="0" i="0" dirty="0">
                <a:solidFill>
                  <a:schemeClr val="tx1"/>
                </a:solidFill>
                <a:effectLst/>
                <a:latin typeface="+mn-lt"/>
              </a:rPr>
              <a:t>create-skill</a:t>
            </a:r>
            <a:r>
              <a:rPr lang="en-IN" sz="1800" b="0" i="0" dirty="0">
                <a:solidFill>
                  <a:schemeClr val="tx1"/>
                </a:solidFill>
                <a:effectLst/>
                <a:latin typeface="+mn-lt"/>
              </a:rPr>
              <a:t>, </a:t>
            </a:r>
            <a:r>
              <a:rPr lang="en-IN" sz="1600" b="0" i="0" dirty="0">
                <a:solidFill>
                  <a:schemeClr val="tx1"/>
                </a:solidFill>
                <a:effectLst/>
                <a:latin typeface="+mn-lt"/>
              </a:rPr>
              <a:t>build-</a:t>
            </a:r>
            <a:r>
              <a:rPr lang="en-IN" sz="1600" b="0" i="0" dirty="0" err="1">
                <a:solidFill>
                  <a:schemeClr val="tx1"/>
                </a:solidFill>
                <a:effectLst/>
                <a:latin typeface="+mn-lt"/>
              </a:rPr>
              <a:t>mcp</a:t>
            </a:r>
            <a:r>
              <a:rPr lang="en-IN" sz="1600" b="0" i="0" dirty="0">
                <a:solidFill>
                  <a:schemeClr val="tx1"/>
                </a:solidFill>
                <a:effectLst/>
                <a:latin typeface="+mn-lt"/>
              </a:rPr>
              <a:t>-server</a:t>
            </a:r>
            <a:r>
              <a:rPr lang="en-IN" sz="1800" b="0" i="0" dirty="0">
                <a:solidFill>
                  <a:schemeClr val="tx1"/>
                </a:solidFill>
                <a:effectLst/>
                <a:latin typeface="+mn-lt"/>
              </a:rPr>
              <a:t>, </a:t>
            </a:r>
            <a:r>
              <a:rPr lang="en-IN" sz="1600" b="0" i="0" dirty="0">
                <a:solidFill>
                  <a:schemeClr val="tx1"/>
                </a:solidFill>
                <a:effectLst/>
                <a:latin typeface="+mn-lt"/>
              </a:rPr>
              <a:t>xlsx-insights</a:t>
            </a:r>
            <a:r>
              <a:rPr lang="en-IN" sz="1800" b="0" i="0" dirty="0">
                <a:solidFill>
                  <a:schemeClr val="tx1"/>
                </a:solidFill>
                <a:effectLst/>
                <a:latin typeface="+mn-lt"/>
              </a:rPr>
              <a:t>) and </a:t>
            </a:r>
            <a:r>
              <a:rPr lang="en-IN" sz="1800" b="1" i="0" dirty="0">
                <a:solidFill>
                  <a:schemeClr val="tx1"/>
                </a:solidFill>
                <a:effectLst/>
                <a:latin typeface="+mn-lt"/>
              </a:rPr>
              <a:t>Workflows</a:t>
            </a:r>
            <a:r>
              <a:rPr lang="en-IN" sz="1800" b="0" i="0" dirty="0">
                <a:solidFill>
                  <a:schemeClr val="tx1"/>
                </a:solidFill>
                <a:effectLst/>
                <a:latin typeface="+mn-lt"/>
              </a:rPr>
              <a:t> (multi-step processes like creating PRs)</a:t>
            </a:r>
          </a:p>
          <a:p>
            <a:pPr marL="0" marR="0" indent="0" algn="just">
              <a:buFont typeface="Arial" panose="020B0604020202020204" pitchFamily="34" charset="0"/>
              <a:buChar char="•"/>
            </a:pPr>
            <a:r>
              <a:rPr lang="en-IN" sz="1800" b="0" i="0" dirty="0">
                <a:solidFill>
                  <a:schemeClr val="tx1"/>
                </a:solidFill>
                <a:effectLst/>
                <a:latin typeface="+mn-lt"/>
              </a:rPr>
              <a:t>Understands the full project codebase via tools like </a:t>
            </a:r>
            <a:r>
              <a:rPr lang="en-IN" sz="1600" b="0" i="0" dirty="0" err="1">
                <a:solidFill>
                  <a:schemeClr val="tx1"/>
                </a:solidFill>
                <a:effectLst/>
                <a:latin typeface="+mn-lt"/>
              </a:rPr>
              <a:t>FindSymbol</a:t>
            </a:r>
            <a:r>
              <a:rPr lang="en-IN" sz="1800" b="0" i="0" dirty="0">
                <a:solidFill>
                  <a:schemeClr val="tx1"/>
                </a:solidFill>
                <a:effectLst/>
                <a:latin typeface="+mn-lt"/>
              </a:rPr>
              <a:t>, </a:t>
            </a:r>
            <a:r>
              <a:rPr lang="en-IN" sz="1600" b="0" i="0" dirty="0">
                <a:solidFill>
                  <a:schemeClr val="tx1"/>
                </a:solidFill>
                <a:effectLst/>
                <a:latin typeface="+mn-lt"/>
              </a:rPr>
              <a:t>grep</a:t>
            </a:r>
            <a:r>
              <a:rPr lang="en-IN" sz="1800" b="0" i="0" dirty="0">
                <a:solidFill>
                  <a:schemeClr val="tx1"/>
                </a:solidFill>
                <a:effectLst/>
                <a:latin typeface="+mn-lt"/>
              </a:rPr>
              <a:t>, </a:t>
            </a:r>
            <a:r>
              <a:rPr lang="en-IN" sz="1600" b="0" i="0" dirty="0" err="1">
                <a:solidFill>
                  <a:schemeClr val="tx1"/>
                </a:solidFill>
                <a:effectLst/>
                <a:latin typeface="+mn-lt"/>
              </a:rPr>
              <a:t>read_file</a:t>
            </a:r>
            <a:r>
              <a:rPr lang="en-IN" sz="1800" b="0" i="0" dirty="0">
                <a:solidFill>
                  <a:schemeClr val="tx1"/>
                </a:solidFill>
                <a:effectLst/>
                <a:latin typeface="+mn-lt"/>
              </a:rPr>
              <a:t>, and </a:t>
            </a:r>
            <a:r>
              <a:rPr lang="en-IN" sz="1600" b="0" i="0" dirty="0" err="1">
                <a:solidFill>
                  <a:schemeClr val="tx1"/>
                </a:solidFill>
                <a:effectLst/>
                <a:latin typeface="+mn-lt"/>
              </a:rPr>
              <a:t>GetSymbolsOverview</a:t>
            </a:r>
            <a:endParaRPr lang="en-IN" sz="1800" b="0" i="0" dirty="0">
              <a:solidFill>
                <a:schemeClr val="tx1"/>
              </a:solidFill>
              <a:effectLst/>
              <a:latin typeface="+mn-lt"/>
            </a:endParaRPr>
          </a:p>
          <a:p>
            <a:pPr marL="0" marR="0" indent="0" algn="just">
              <a:buFont typeface="Arial" panose="020B0604020202020204" pitchFamily="34" charset="0"/>
              <a:buChar char="•"/>
            </a:pPr>
            <a:r>
              <a:rPr lang="en-IN" sz="1800" b="0" i="0" dirty="0">
                <a:solidFill>
                  <a:schemeClr val="tx1"/>
                </a:solidFill>
                <a:effectLst/>
                <a:latin typeface="+mn-lt"/>
              </a:rPr>
              <a:t>Respects the project's </a:t>
            </a:r>
            <a:r>
              <a:rPr lang="en-IN" sz="1800" b="1" i="0" dirty="0">
                <a:solidFill>
                  <a:schemeClr val="tx1"/>
                </a:solidFill>
                <a:effectLst/>
                <a:latin typeface="+mn-lt"/>
              </a:rPr>
              <a:t>engineering discipline</a:t>
            </a:r>
            <a:r>
              <a:rPr lang="en-IN" sz="1800" b="0" i="0" dirty="0">
                <a:solidFill>
                  <a:schemeClr val="tx1"/>
                </a:solidFill>
                <a:effectLst/>
                <a:latin typeface="+mn-lt"/>
              </a:rPr>
              <a:t>: minimal changes, grounded answers only after reading actual files</a:t>
            </a:r>
          </a:p>
          <a:p>
            <a:pPr algn="just">
              <a:buNone/>
            </a:pPr>
            <a:br>
              <a:rPr lang="en-IN" sz="1800" dirty="0">
                <a:solidFill>
                  <a:schemeClr val="tx1"/>
                </a:solidFill>
                <a:latin typeface="+mn-lt"/>
              </a:rPr>
            </a:br>
            <a:endParaRPr lang="en-IN" sz="1800" dirty="0">
              <a:solidFill>
                <a:schemeClr val="tx1"/>
              </a:solidFill>
              <a:latin typeface="+mn-lt"/>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488429" y="323239"/>
            <a:ext cx="5908929" cy="448508"/>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a:t>
            </a:r>
            <a:r>
              <a:rPr lang="en-US" sz="3200" b="1" dirty="0">
                <a:solidFill>
                  <a:schemeClr val="dk1"/>
                </a:solidFill>
                <a:latin typeface="Calibri"/>
                <a:ea typeface="Calibri"/>
                <a:cs typeface="Calibri"/>
                <a:sym typeface="Calibri"/>
              </a:rPr>
              <a:t>blueprint</a:t>
            </a:r>
            <a:endParaRPr lang="en-US" sz="2800" dirty="0"/>
          </a:p>
        </p:txBody>
      </p:sp>
      <p:pic>
        <p:nvPicPr>
          <p:cNvPr id="7" name="Picture 6">
            <a:extLst>
              <a:ext uri="{FF2B5EF4-FFF2-40B4-BE49-F238E27FC236}">
                <a16:creationId xmlns:a16="http://schemas.microsoft.com/office/drawing/2014/main" id="{DF95FBCC-A266-1D5B-6A78-B62B7696A1F4}"/>
              </a:ext>
            </a:extLst>
          </p:cNvPr>
          <p:cNvPicPr>
            <a:picLocks noChangeAspect="1"/>
          </p:cNvPicPr>
          <p:nvPr/>
        </p:nvPicPr>
        <p:blipFill>
          <a:blip r:embed="rId3"/>
          <a:stretch>
            <a:fillRect/>
          </a:stretch>
        </p:blipFill>
        <p:spPr>
          <a:xfrm>
            <a:off x="1331475" y="1013238"/>
            <a:ext cx="9529050" cy="55215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F14D2E-E930-57E2-F4EA-6C4EF2248C23}"/>
              </a:ext>
            </a:extLst>
          </p:cNvPr>
          <p:cNvPicPr>
            <a:picLocks noChangeAspect="1"/>
          </p:cNvPicPr>
          <p:nvPr/>
        </p:nvPicPr>
        <p:blipFill>
          <a:blip r:embed="rId2"/>
          <a:stretch>
            <a:fillRect/>
          </a:stretch>
        </p:blipFill>
        <p:spPr>
          <a:xfrm>
            <a:off x="309546" y="1273052"/>
            <a:ext cx="11572908" cy="5230762"/>
          </a:xfrm>
          <a:prstGeom prst="rect">
            <a:avLst/>
          </a:prstGeom>
        </p:spPr>
      </p:pic>
      <p:sp>
        <p:nvSpPr>
          <p:cNvPr id="4" name="TextBox 3">
            <a:extLst>
              <a:ext uri="{FF2B5EF4-FFF2-40B4-BE49-F238E27FC236}">
                <a16:creationId xmlns:a16="http://schemas.microsoft.com/office/drawing/2014/main" id="{0AC4D834-EC81-4DC9-00CC-A5F01568213C}"/>
              </a:ext>
            </a:extLst>
          </p:cNvPr>
          <p:cNvSpPr txBox="1"/>
          <p:nvPr/>
        </p:nvSpPr>
        <p:spPr>
          <a:xfrm>
            <a:off x="575017" y="354186"/>
            <a:ext cx="4739149" cy="461665"/>
          </a:xfrm>
          <a:prstGeom prst="rect">
            <a:avLst/>
          </a:prstGeom>
          <a:noFill/>
        </p:spPr>
        <p:txBody>
          <a:bodyPr wrap="square" rtlCol="0">
            <a:spAutoFit/>
          </a:bodyPr>
          <a:lstStyle/>
          <a:p>
            <a:r>
              <a:rPr lang="en-IN" sz="2400" b="1" dirty="0"/>
              <a:t>Working -</a:t>
            </a:r>
          </a:p>
        </p:txBody>
      </p:sp>
    </p:spTree>
    <p:extLst>
      <p:ext uri="{BB962C8B-B14F-4D97-AF65-F5344CB8AC3E}">
        <p14:creationId xmlns:p14="http://schemas.microsoft.com/office/powerpoint/2010/main" val="1410005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81E5F4-76B3-4EF6-848B-52EA0980FD17}"/>
              </a:ext>
            </a:extLst>
          </p:cNvPr>
          <p:cNvPicPr>
            <a:picLocks noChangeAspect="1"/>
          </p:cNvPicPr>
          <p:nvPr/>
        </p:nvPicPr>
        <p:blipFill>
          <a:blip r:embed="rId2"/>
          <a:stretch>
            <a:fillRect/>
          </a:stretch>
        </p:blipFill>
        <p:spPr>
          <a:xfrm>
            <a:off x="186813" y="648929"/>
            <a:ext cx="11955325" cy="5814161"/>
          </a:xfrm>
          <a:prstGeom prst="rect">
            <a:avLst/>
          </a:prstGeom>
        </p:spPr>
      </p:pic>
    </p:spTree>
    <p:extLst>
      <p:ext uri="{BB962C8B-B14F-4D97-AF65-F5344CB8AC3E}">
        <p14:creationId xmlns:p14="http://schemas.microsoft.com/office/powerpoint/2010/main" val="4091237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7D08E6-993D-C3C5-81BD-BE4CF312A70C}"/>
              </a:ext>
            </a:extLst>
          </p:cNvPr>
          <p:cNvPicPr>
            <a:picLocks noChangeAspect="1"/>
          </p:cNvPicPr>
          <p:nvPr/>
        </p:nvPicPr>
        <p:blipFill>
          <a:blip r:embed="rId2"/>
          <a:stretch>
            <a:fillRect/>
          </a:stretch>
        </p:blipFill>
        <p:spPr>
          <a:xfrm>
            <a:off x="122903" y="631942"/>
            <a:ext cx="11946194" cy="5812025"/>
          </a:xfrm>
          <a:prstGeom prst="rect">
            <a:avLst/>
          </a:prstGeom>
        </p:spPr>
      </p:pic>
    </p:spTree>
    <p:extLst>
      <p:ext uri="{BB962C8B-B14F-4D97-AF65-F5344CB8AC3E}">
        <p14:creationId xmlns:p14="http://schemas.microsoft.com/office/powerpoint/2010/main" val="3281897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942225"/>
            <a:ext cx="10990105" cy="5632311"/>
          </a:xfrm>
          <a:prstGeom prst="rect">
            <a:avLst/>
          </a:prstGeom>
          <a:noFill/>
        </p:spPr>
        <p:txBody>
          <a:bodyPr wrap="square" rtlCol="0">
            <a:spAutoFit/>
          </a:bodyPr>
          <a:lstStyle/>
          <a:p>
            <a:pPr algn="just">
              <a:buNone/>
            </a:pPr>
            <a:r>
              <a:rPr lang="en-IN" sz="2000" dirty="0"/>
              <a:t>Agentic AI enables the Interview Trainer Agent to function as an intelligent, autonomous interview coach rather than a simple question-answering chatbot. Using </a:t>
            </a:r>
            <a:r>
              <a:rPr lang="en-IN" sz="2000" b="1" dirty="0"/>
              <a:t>IBM watsonx.ai</a:t>
            </a:r>
            <a:r>
              <a:rPr lang="en-IN" sz="2000" dirty="0"/>
              <a:t> and </a:t>
            </a:r>
            <a:r>
              <a:rPr lang="en-IN" sz="2000" b="1" dirty="0"/>
              <a:t>IBM Granite</a:t>
            </a:r>
            <a:r>
              <a:rPr lang="en-IN" sz="2000" dirty="0"/>
              <a:t> models, it coordinates multiple specialized agents to deliver personalized and effective interview preparation.</a:t>
            </a:r>
          </a:p>
          <a:p>
            <a:pPr algn="just">
              <a:buNone/>
            </a:pPr>
            <a:r>
              <a:rPr lang="en-IN" sz="2000" dirty="0"/>
              <a:t>Each agent performs a specific role—such as </a:t>
            </a:r>
            <a:r>
              <a:rPr lang="en-IN" sz="2000" dirty="0" err="1"/>
              <a:t>analyzing</a:t>
            </a:r>
            <a:r>
              <a:rPr lang="en-IN" sz="2000" dirty="0"/>
              <a:t> resumes, retrieving role-specific interview questions, generating technical and HR questions, evaluating candidate responses, and providing improvement suggestions—while working collaboratively. This multi-agent approach ensures efficient task execution and highly relevant interview guidance.</a:t>
            </a:r>
          </a:p>
          <a:p>
            <a:pPr algn="just">
              <a:buNone/>
            </a:pPr>
            <a:r>
              <a:rPr lang="en-IN" sz="2000" dirty="0"/>
              <a:t>Agentic AI also brings context awareness by understanding the user's experience level, technical skills, target job role, and career goals to generate personalized interview scenarios and preparation strategies. It supports real-time adaptation, continuously adjusting question difficulty and focus areas based on the candidate's performance during mock interviews.</a:t>
            </a:r>
          </a:p>
          <a:p>
            <a:pPr algn="just">
              <a:buNone/>
            </a:pPr>
            <a:r>
              <a:rPr lang="en-IN" sz="2000" dirty="0"/>
              <a:t>Additionally, the agents communicate with each other, enabling better decision-making by combining retrieved knowledge with AI-generated insights to provide accurate model answers, constructive feedback, and targeted learning recommendations.</a:t>
            </a:r>
          </a:p>
          <a:p>
            <a:pPr algn="just">
              <a:buNone/>
            </a:pPr>
            <a:r>
              <a:rPr lang="en-IN" sz="2000" dirty="0"/>
              <a:t>Overall, Agentic AI makes the Interview Trainer Agent proactive, personalized, and goal-driven, acting as a smart virtual interview mentor that helps candidates build confidence, improve communication skills, and maximize their chances of success in job interviews.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386309"/>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16840"/>
            <a:ext cx="11301984" cy="5539978"/>
          </a:xfrm>
          <a:prstGeom prst="rect">
            <a:avLst/>
          </a:prstGeom>
          <a:noFill/>
        </p:spPr>
        <p:txBody>
          <a:bodyPr wrap="square" rtlCol="0">
            <a:spAutoFit/>
          </a:bodyPr>
          <a:lstStyle/>
          <a:p>
            <a:pPr>
              <a:buNone/>
            </a:pPr>
            <a:r>
              <a:rPr lang="en-IN" sz="2000" dirty="0"/>
              <a:t>The proposed </a:t>
            </a:r>
            <a:r>
              <a:rPr lang="en-IN" sz="2000" b="1" dirty="0"/>
              <a:t>Interview Trainer Agent</a:t>
            </a:r>
            <a:r>
              <a:rPr lang="en-IN" sz="2000" dirty="0"/>
              <a:t> stands out by combining </a:t>
            </a:r>
            <a:r>
              <a:rPr lang="en-IN" sz="2000" b="1" dirty="0"/>
              <a:t>Agentic AI, RAG, and personalized interview coaching</a:t>
            </a:r>
            <a:r>
              <a:rPr lang="en-IN" sz="2000" dirty="0"/>
              <a:t> into a single intelligent system.</a:t>
            </a:r>
          </a:p>
          <a:p>
            <a:pPr>
              <a:buFont typeface="Arial" panose="020B0604020202020204" pitchFamily="34" charset="0"/>
              <a:buChar char="•"/>
            </a:pPr>
            <a:r>
              <a:rPr lang="en-IN" sz="2000" b="1" dirty="0"/>
              <a:t>Multi-Agent Intelligence</a:t>
            </a:r>
            <a:r>
              <a:rPr lang="en-IN" sz="2000" dirty="0"/>
              <a:t> – Instead of a single chatbot, multiple specialized agents collaborate to </a:t>
            </a:r>
            <a:r>
              <a:rPr lang="en-IN" sz="2000" dirty="0" err="1"/>
              <a:t>analyze</a:t>
            </a:r>
            <a:r>
              <a:rPr lang="en-IN" sz="2000" dirty="0"/>
              <a:t> resumes, retrieve interview knowledge, generate questions, and evaluate candidate responses. </a:t>
            </a:r>
          </a:p>
          <a:p>
            <a:pPr>
              <a:buFont typeface="Arial" panose="020B0604020202020204" pitchFamily="34" charset="0"/>
              <a:buChar char="•"/>
            </a:pPr>
            <a:r>
              <a:rPr lang="en-IN" sz="2000" b="1" dirty="0"/>
              <a:t>RAG-Based Accuracy</a:t>
            </a:r>
            <a:r>
              <a:rPr lang="en-IN" sz="2000" dirty="0"/>
              <a:t> – Integrates real-time knowledge retrieval with AI generation, reducing hallucinations and ensuring role-specific, accurate interview preparation. </a:t>
            </a:r>
          </a:p>
          <a:p>
            <a:pPr>
              <a:buFont typeface="Arial" panose="020B0604020202020204" pitchFamily="34" charset="0"/>
              <a:buChar char="•"/>
            </a:pPr>
            <a:r>
              <a:rPr lang="en-IN" sz="2000" b="1" dirty="0"/>
              <a:t>Hyper-Personalization</a:t>
            </a:r>
            <a:r>
              <a:rPr lang="en-IN" sz="2000" dirty="0"/>
              <a:t> – Tailors interview questions, mock sessions, and preparation strategies based on the candidate's resume, experience level, skills, and target job role. </a:t>
            </a:r>
          </a:p>
          <a:p>
            <a:pPr>
              <a:buFont typeface="Arial" panose="020B0604020202020204" pitchFamily="34" charset="0"/>
              <a:buChar char="•"/>
            </a:pPr>
            <a:r>
              <a:rPr lang="en-IN" sz="2000" b="1" dirty="0"/>
              <a:t>Adaptive Learning</a:t>
            </a:r>
            <a:r>
              <a:rPr lang="en-IN" sz="2000" dirty="0"/>
              <a:t> – Continuously adjusts question difficulty and learning recommendations based on user performance and identified skill gaps. </a:t>
            </a:r>
          </a:p>
          <a:p>
            <a:pPr>
              <a:buFont typeface="Arial" panose="020B0604020202020204" pitchFamily="34" charset="0"/>
              <a:buChar char="•"/>
            </a:pPr>
            <a:r>
              <a:rPr lang="en-IN" sz="2000" b="1" dirty="0"/>
              <a:t>Comprehensive Interview Coverage</a:t>
            </a:r>
            <a:r>
              <a:rPr lang="en-IN" sz="2000" dirty="0"/>
              <a:t> – Supports technical, HR, </a:t>
            </a:r>
            <a:r>
              <a:rPr lang="en-IN" sz="2000" dirty="0" err="1"/>
              <a:t>behavioral</a:t>
            </a:r>
            <a:r>
              <a:rPr lang="en-IN" sz="2000" dirty="0"/>
              <a:t>, situational, and company-specific interview preparation within a single platform. </a:t>
            </a:r>
          </a:p>
          <a:p>
            <a:pPr>
              <a:buFont typeface="Arial" panose="020B0604020202020204" pitchFamily="34" charset="0"/>
              <a:buChar char="•"/>
            </a:pPr>
            <a:r>
              <a:rPr lang="en-IN" sz="2000" b="1" dirty="0"/>
              <a:t>Constructive AI Feedback</a:t>
            </a:r>
            <a:r>
              <a:rPr lang="en-IN" sz="2000" dirty="0"/>
              <a:t> – Evaluates responses and provides model answers, communication tips, confidence-building suggestions, and improvement recommendations. </a:t>
            </a:r>
          </a:p>
          <a:p>
            <a:pPr>
              <a:buFont typeface="Arial" panose="020B0604020202020204" pitchFamily="34" charset="0"/>
              <a:buChar char="•"/>
            </a:pPr>
            <a:r>
              <a:rPr lang="en-IN" sz="2000" b="1" dirty="0"/>
              <a:t>Scalable &amp; Enterprise-Ready</a:t>
            </a:r>
            <a:r>
              <a:rPr lang="en-IN" sz="2000" dirty="0"/>
              <a:t> – Built on </a:t>
            </a:r>
            <a:r>
              <a:rPr lang="en-IN" sz="2000" b="1" dirty="0"/>
              <a:t>IBM watsonx.ai</a:t>
            </a:r>
            <a:r>
              <a:rPr lang="en-IN" sz="2000" dirty="0"/>
              <a:t> with </a:t>
            </a:r>
            <a:r>
              <a:rPr lang="en-IN" sz="2000" b="1" dirty="0"/>
              <a:t>IBM Granite</a:t>
            </a:r>
            <a:r>
              <a:rPr lang="en-IN" sz="2000" dirty="0"/>
              <a:t> models, ensuring reliability, scalability, security, and responsible AI governance.</a:t>
            </a:r>
          </a:p>
          <a:p>
            <a:endParaRPr lang="en-IN" sz="1200"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mn-lt"/>
              <a:ea typeface="Times New Roman"/>
              <a:cs typeface="Times New Roman"/>
              <a:sym typeface="Times New Roman"/>
            </a:endParaRPr>
          </a:p>
        </p:txBody>
      </p:sp>
      <p:sp>
        <p:nvSpPr>
          <p:cNvPr id="2" name="TextBox 1">
            <a:extLst>
              <a:ext uri="{FF2B5EF4-FFF2-40B4-BE49-F238E27FC236}">
                <a16:creationId xmlns:a16="http://schemas.microsoft.com/office/drawing/2014/main" id="{6FAB6F28-FA03-D0FC-4129-BFD2338A7E9A}"/>
              </a:ext>
            </a:extLst>
          </p:cNvPr>
          <p:cNvSpPr txBox="1"/>
          <p:nvPr/>
        </p:nvSpPr>
        <p:spPr>
          <a:xfrm>
            <a:off x="1218724" y="1671484"/>
            <a:ext cx="8987161" cy="1015663"/>
          </a:xfrm>
          <a:prstGeom prst="rect">
            <a:avLst/>
          </a:prstGeom>
          <a:noFill/>
        </p:spPr>
        <p:txBody>
          <a:bodyPr wrap="square" rtlCol="0">
            <a:spAutoFit/>
          </a:bodyPr>
          <a:lstStyle/>
          <a:p>
            <a:r>
              <a:rPr lang="en-IN" sz="2000" b="1" dirty="0"/>
              <a:t>Repository Link: </a:t>
            </a:r>
            <a:r>
              <a:rPr lang="en-IN" sz="2000" dirty="0">
                <a:hlinkClick r:id="rId3"/>
              </a:rPr>
              <a:t>https://github.com/Sankalp-Dev06/Interview-Trainer-AI</a:t>
            </a:r>
            <a:endParaRPr lang="en-IN" sz="2000" dirty="0"/>
          </a:p>
          <a:p>
            <a:endParaRPr lang="en-IN" sz="2000" dirty="0"/>
          </a:p>
          <a:p>
            <a:r>
              <a:rPr lang="en-IN" sz="2000" b="1" dirty="0"/>
              <a:t>Live Link: </a:t>
            </a:r>
            <a:r>
              <a:rPr lang="en-IN" sz="2000" dirty="0">
                <a:hlinkClick r:id="rId4"/>
              </a:rPr>
              <a:t>https://interview-trainer-ai-ysbnd46yiusuyceq4uaxvv.streamlit.app/</a:t>
            </a:r>
            <a:endParaRPr lang="en-IN" sz="2000" dirty="0"/>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27111" y="42073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27110" y="1146925"/>
            <a:ext cx="10707805" cy="5290345"/>
          </a:xfrm>
          <a:prstGeom prst="rect">
            <a:avLst/>
          </a:prstGeom>
          <a:noFill/>
          <a:ln>
            <a:noFill/>
          </a:ln>
        </p:spPr>
        <p:txBody>
          <a:bodyPr spcFirstLastPara="1" wrap="square" lIns="0" tIns="0" rIns="0" bIns="0" anchor="t" anchorCtr="0">
            <a:noAutofit/>
          </a:bodyPr>
          <a:lstStyle/>
          <a:p>
            <a:pPr algn="just">
              <a:buNone/>
            </a:pPr>
            <a:r>
              <a:rPr lang="en-IN" sz="2000" dirty="0"/>
              <a:t>The Interview Trainer Agent can be further enhanced with advanced AI capabilities to provide a more comprehensive and realistic interview preparation experience.</a:t>
            </a:r>
          </a:p>
          <a:p>
            <a:pPr algn="just">
              <a:buFont typeface="Arial" panose="020B0604020202020204" pitchFamily="34" charset="0"/>
              <a:buChar char="•"/>
            </a:pPr>
            <a:r>
              <a:rPr lang="en-IN" sz="2000" b="1" dirty="0"/>
              <a:t>Voice-Based Mock Interviews</a:t>
            </a:r>
            <a:r>
              <a:rPr lang="en-IN" sz="2000" dirty="0"/>
              <a:t> – Enable real-time voice conversations with AI to simulate actual interview environments. </a:t>
            </a:r>
          </a:p>
          <a:p>
            <a:pPr algn="just">
              <a:buFont typeface="Arial" panose="020B0604020202020204" pitchFamily="34" charset="0"/>
              <a:buChar char="•"/>
            </a:pPr>
            <a:r>
              <a:rPr lang="en-IN" sz="2000" b="1" dirty="0"/>
              <a:t>Video Interview Analysis</a:t>
            </a:r>
            <a:r>
              <a:rPr lang="en-IN" sz="2000" dirty="0"/>
              <a:t> – </a:t>
            </a:r>
            <a:r>
              <a:rPr lang="en-IN" sz="2000" dirty="0" err="1"/>
              <a:t>Analyze</a:t>
            </a:r>
            <a:r>
              <a:rPr lang="en-IN" sz="2000" dirty="0"/>
              <a:t> facial expressions, eye contact, body language, and confidence to provide non-verbal communication feedback. </a:t>
            </a:r>
          </a:p>
          <a:p>
            <a:pPr algn="just">
              <a:buFont typeface="Arial" panose="020B0604020202020204" pitchFamily="34" charset="0"/>
              <a:buChar char="•"/>
            </a:pPr>
            <a:r>
              <a:rPr lang="en-IN" sz="2000" b="1" dirty="0"/>
              <a:t>Company-Specific Interview Preparation</a:t>
            </a:r>
            <a:r>
              <a:rPr lang="en-IN" sz="2000" dirty="0"/>
              <a:t> – Integrate company interview patterns, hiring trends, and role-specific question banks for personalized practice. </a:t>
            </a:r>
          </a:p>
          <a:p>
            <a:pPr algn="just">
              <a:buFont typeface="Arial" panose="020B0604020202020204" pitchFamily="34" charset="0"/>
              <a:buChar char="•"/>
            </a:pPr>
            <a:r>
              <a:rPr lang="en-IN" sz="2000" b="1" dirty="0"/>
              <a:t>Coding Assessment Integration</a:t>
            </a:r>
            <a:r>
              <a:rPr lang="en-IN" sz="2000" dirty="0"/>
              <a:t> – Support live coding interviews with automated code evaluation and performance analysis for technical roles. </a:t>
            </a:r>
          </a:p>
          <a:p>
            <a:pPr algn="just">
              <a:buFont typeface="Arial" panose="020B0604020202020204" pitchFamily="34" charset="0"/>
              <a:buChar char="•"/>
            </a:pPr>
            <a:r>
              <a:rPr lang="en-IN" sz="2000" b="1" dirty="0"/>
              <a:t>Multilingual Interview Support</a:t>
            </a:r>
            <a:r>
              <a:rPr lang="en-IN" sz="2000" dirty="0"/>
              <a:t> – Conduct interviews and provide feedback in multiple languages to improve accessibility. </a:t>
            </a:r>
          </a:p>
          <a:p>
            <a:pPr algn="just">
              <a:buFont typeface="Arial" panose="020B0604020202020204" pitchFamily="34" charset="0"/>
              <a:buChar char="•"/>
            </a:pPr>
            <a:r>
              <a:rPr lang="en-IN" sz="2000" b="1" dirty="0"/>
              <a:t>AI Career Guidance</a:t>
            </a:r>
            <a:r>
              <a:rPr lang="en-IN" sz="2000" dirty="0"/>
              <a:t> – Recommend learning paths, certifications, and skill development based on interview performance and career goals. </a:t>
            </a:r>
          </a:p>
          <a:p>
            <a:pPr algn="just">
              <a:buFont typeface="Arial" panose="020B0604020202020204" pitchFamily="34" charset="0"/>
              <a:buChar char="•"/>
            </a:pPr>
            <a:r>
              <a:rPr lang="en-IN" sz="2000" b="1" dirty="0"/>
              <a:t>Enterprise &amp; University Integration</a:t>
            </a:r>
            <a:r>
              <a:rPr lang="en-IN" sz="2000" dirty="0"/>
              <a:t> – Enable organizations and educational institutions to conduct AI-powered mock interviews and candidate assessments at scale using IBM watsonx.ai and IBM Granite.</a:t>
            </a: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 name="Picture 7">
            <a:extLst>
              <a:ext uri="{FF2B5EF4-FFF2-40B4-BE49-F238E27FC236}">
                <a16:creationId xmlns:a16="http://schemas.microsoft.com/office/drawing/2014/main" id="{1A22FBA7-047E-2658-3C44-B2D36B06FA2A}"/>
              </a:ext>
            </a:extLst>
          </p:cNvPr>
          <p:cNvPicPr>
            <a:picLocks noChangeAspect="1"/>
          </p:cNvPicPr>
          <p:nvPr/>
        </p:nvPicPr>
        <p:blipFill>
          <a:blip r:embed="rId2"/>
          <a:stretch>
            <a:fillRect/>
          </a:stretch>
        </p:blipFill>
        <p:spPr>
          <a:xfrm>
            <a:off x="861221" y="852923"/>
            <a:ext cx="8105798" cy="5797697"/>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ADEEB-7E7A-A497-7876-C70E5007D12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EE2543D-6016-7329-263D-DF416FC4DAA4}"/>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3" name="Picture 2">
            <a:extLst>
              <a:ext uri="{FF2B5EF4-FFF2-40B4-BE49-F238E27FC236}">
                <a16:creationId xmlns:a16="http://schemas.microsoft.com/office/drawing/2014/main" id="{09CFA26D-4E88-73C2-5E14-8A7A7884921A}"/>
              </a:ext>
            </a:extLst>
          </p:cNvPr>
          <p:cNvPicPr>
            <a:picLocks noChangeAspect="1"/>
          </p:cNvPicPr>
          <p:nvPr/>
        </p:nvPicPr>
        <p:blipFill>
          <a:blip r:embed="rId2"/>
          <a:stretch>
            <a:fillRect/>
          </a:stretch>
        </p:blipFill>
        <p:spPr>
          <a:xfrm>
            <a:off x="1741695" y="764667"/>
            <a:ext cx="7469746" cy="5525311"/>
          </a:xfrm>
          <a:prstGeom prst="rect">
            <a:avLst/>
          </a:prstGeom>
        </p:spPr>
      </p:pic>
    </p:spTree>
    <p:extLst>
      <p:ext uri="{BB962C8B-B14F-4D97-AF65-F5344CB8AC3E}">
        <p14:creationId xmlns:p14="http://schemas.microsoft.com/office/powerpoint/2010/main" val="2990728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492AA-57FC-BC97-C0B3-393710782A7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187FF5B-E230-2DC8-A8B0-8483B2B1BD1A}"/>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3" name="Picture 2">
            <a:extLst>
              <a:ext uri="{FF2B5EF4-FFF2-40B4-BE49-F238E27FC236}">
                <a16:creationId xmlns:a16="http://schemas.microsoft.com/office/drawing/2014/main" id="{51A3E387-6A87-771D-EB27-D59929BFE886}"/>
              </a:ext>
            </a:extLst>
          </p:cNvPr>
          <p:cNvPicPr>
            <a:picLocks noChangeAspect="1"/>
          </p:cNvPicPr>
          <p:nvPr/>
        </p:nvPicPr>
        <p:blipFill>
          <a:blip r:embed="rId2"/>
          <a:stretch>
            <a:fillRect/>
          </a:stretch>
        </p:blipFill>
        <p:spPr>
          <a:xfrm>
            <a:off x="1986116" y="633919"/>
            <a:ext cx="7780363" cy="5924770"/>
          </a:xfrm>
          <a:prstGeom prst="rect">
            <a:avLst/>
          </a:prstGeom>
        </p:spPr>
      </p:pic>
    </p:spTree>
    <p:extLst>
      <p:ext uri="{BB962C8B-B14F-4D97-AF65-F5344CB8AC3E}">
        <p14:creationId xmlns:p14="http://schemas.microsoft.com/office/powerpoint/2010/main" val="748045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E448B-F3BA-1220-33C7-154C366E6DB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3DBCB6-656E-2DDD-D45C-979563D0A11A}"/>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BC9683F0-6CE7-9873-B371-B64819F88C19}"/>
              </a:ext>
            </a:extLst>
          </p:cNvPr>
          <p:cNvPicPr>
            <a:picLocks noChangeAspect="1"/>
          </p:cNvPicPr>
          <p:nvPr/>
        </p:nvPicPr>
        <p:blipFill>
          <a:blip r:embed="rId2"/>
          <a:stretch>
            <a:fillRect/>
          </a:stretch>
        </p:blipFill>
        <p:spPr>
          <a:xfrm>
            <a:off x="1700982" y="737987"/>
            <a:ext cx="8335954" cy="5185193"/>
          </a:xfrm>
          <a:prstGeom prst="rect">
            <a:avLst/>
          </a:prstGeom>
        </p:spPr>
      </p:pic>
    </p:spTree>
    <p:extLst>
      <p:ext uri="{BB962C8B-B14F-4D97-AF65-F5344CB8AC3E}">
        <p14:creationId xmlns:p14="http://schemas.microsoft.com/office/powerpoint/2010/main" val="3378830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F4F4D3A0-21A8-F0D5-BA3F-24988EE5664E}"/>
              </a:ext>
            </a:extLst>
          </p:cNvPr>
          <p:cNvPicPr>
            <a:picLocks noChangeAspect="1"/>
          </p:cNvPicPr>
          <p:nvPr/>
        </p:nvPicPr>
        <p:blipFill>
          <a:blip r:embed="rId2"/>
          <a:stretch>
            <a:fillRect/>
          </a:stretch>
        </p:blipFill>
        <p:spPr>
          <a:xfrm>
            <a:off x="1700981" y="997084"/>
            <a:ext cx="8323075" cy="515293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C024B-1FA5-C5FE-6A49-72B98EAFBFF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F8BFFB0-EE60-0AE3-3A9D-C0996FEFA9A4}"/>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43B222ED-6F11-1232-61CC-6600C9FCF991}"/>
              </a:ext>
            </a:extLst>
          </p:cNvPr>
          <p:cNvPicPr>
            <a:picLocks noChangeAspect="1"/>
          </p:cNvPicPr>
          <p:nvPr/>
        </p:nvPicPr>
        <p:blipFill>
          <a:blip r:embed="rId2"/>
          <a:stretch>
            <a:fillRect/>
          </a:stretch>
        </p:blipFill>
        <p:spPr>
          <a:xfrm>
            <a:off x="1710813" y="1000326"/>
            <a:ext cx="8300365" cy="5148903"/>
          </a:xfrm>
          <a:prstGeom prst="rect">
            <a:avLst/>
          </a:prstGeom>
        </p:spPr>
      </p:pic>
    </p:spTree>
    <p:extLst>
      <p:ext uri="{BB962C8B-B14F-4D97-AF65-F5344CB8AC3E}">
        <p14:creationId xmlns:p14="http://schemas.microsoft.com/office/powerpoint/2010/main" val="4195478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1374</Words>
  <Application>Microsoft Office PowerPoint</Application>
  <PresentationFormat>Widescreen</PresentationFormat>
  <Paragraphs>89</Paragraphs>
  <Slides>21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sankalp tiwari</cp:lastModifiedBy>
  <cp:revision>6</cp:revision>
  <dcterms:created xsi:type="dcterms:W3CDTF">2025-07-08T05:06:56Z</dcterms:created>
  <dcterms:modified xsi:type="dcterms:W3CDTF">2026-07-02T12:09:31Z</dcterms:modified>
</cp:coreProperties>
</file>